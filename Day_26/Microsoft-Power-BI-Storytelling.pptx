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8" r:id="rId5"/>
    <p:sldId id="259" r:id="rId6"/>
    <p:sldId id="263" r:id="rId7"/>
    <p:sldId id="256" r:id="rId8"/>
    <p:sldId id="260" r:id="rId9"/>
    <p:sldId id="257" r:id="rId10"/>
    <p:sldId id="261" r:id="rId11"/>
    <p:sldId id="262" r:id="rId12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00"/>
    <a:srgbClr val="339933"/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C82B5-98AE-90AC-CE73-E60770B05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10" y="172619"/>
            <a:ext cx="11045890" cy="1325563"/>
          </a:xfrm>
        </p:spPr>
        <p:txBody>
          <a:bodyPr/>
          <a:lstStyle/>
          <a:p>
            <a:r>
              <a:rPr lang="en-IN" dirty="0"/>
              <a:t>                       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Load Forecasting for Energy Utilities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35477-1018-80D3-A911-4154DE77C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274" y="1754154"/>
            <a:ext cx="11709918" cy="4833257"/>
          </a:xfrm>
        </p:spPr>
        <p:txBody>
          <a:bodyPr>
            <a:normAutofit/>
          </a:bodyPr>
          <a:lstStyle/>
          <a:p>
            <a:r>
              <a:rPr lang="en-IN" sz="2400" b="1" u="sng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Context : </a:t>
            </a:r>
          </a:p>
          <a:p>
            <a:pPr marL="0" indent="0">
              <a:buNone/>
            </a:pPr>
            <a:endParaRPr lang="en-IN" sz="2400" b="1" u="sng" dirty="0">
              <a:solidFill>
                <a:srgbClr val="339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Energy Landscape is Evolving</a:t>
            </a:r>
            <a:endParaRPr lang="en-IN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Deluge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Opportunity</a:t>
            </a:r>
          </a:p>
          <a:p>
            <a:pPr marL="0" indent="0">
              <a:buNone/>
            </a:pPr>
            <a:endParaRPr lang="en-IN" sz="1600" b="1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u="sng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  <a:p>
            <a:pPr marL="0" indent="0">
              <a:buNone/>
            </a:pPr>
            <a:endParaRPr lang="en-IN" sz="2400" b="1" u="sng" dirty="0">
              <a:solidFill>
                <a:srgbClr val="339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 Operational Efficiency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 Customer Engagement &amp; Service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Drive Data-Driven Decision Making</a:t>
            </a:r>
          </a:p>
        </p:txBody>
      </p:sp>
      <p:pic>
        <p:nvPicPr>
          <p:cNvPr id="1026" name="Picture 2" descr="Esyasoft Holding | LinkedIn">
            <a:extLst>
              <a:ext uri="{FF2B5EF4-FFF2-40B4-BE49-F238E27FC236}">
                <a16:creationId xmlns:a16="http://schemas.microsoft.com/office/drawing/2014/main" id="{FE763222-F915-6F07-BAF4-C1A80956B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87" y="216851"/>
            <a:ext cx="1477878" cy="147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mart meter - Wikipedia">
            <a:extLst>
              <a:ext uri="{FF2B5EF4-FFF2-40B4-BE49-F238E27FC236}">
                <a16:creationId xmlns:a16="http://schemas.microsoft.com/office/drawing/2014/main" id="{E27EDDDA-C87F-EC80-F2AB-B659019BC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679" y="273689"/>
            <a:ext cx="967734" cy="1237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CD416C-C9BE-ADD5-B548-BE31DAD8E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941" y="1914045"/>
            <a:ext cx="6662059" cy="12910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DCBAE3-7043-E8B7-574C-042823491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9941" y="3429000"/>
            <a:ext cx="6662059" cy="12363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B9D722-1002-3667-55EB-C8AFD80F2D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9941" y="4677918"/>
            <a:ext cx="6662059" cy="190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38045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2857-719B-5977-C56D-00B145822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89" y="0"/>
            <a:ext cx="10515600" cy="1008479"/>
          </a:xfrm>
        </p:spPr>
        <p:txBody>
          <a:bodyPr>
            <a:normAutofit/>
          </a:bodyPr>
          <a:lstStyle/>
          <a:p>
            <a:r>
              <a:rPr lang="en-IN" sz="2400" u="sng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 and 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27B24-BBF1-469C-47D3-56E36539B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08479"/>
            <a:ext cx="11518231" cy="531211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IN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Finding KPI for our use case</a:t>
            </a:r>
          </a:p>
          <a:p>
            <a:r>
              <a:rPr lang="en-IN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 consumption load</a:t>
            </a:r>
          </a:p>
          <a:p>
            <a:r>
              <a:rPr lang="en-IN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 supplied by the utilities</a:t>
            </a:r>
          </a:p>
          <a:p>
            <a:endParaRPr lang="en-IN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 startAt="2"/>
            </a:pPr>
            <a:r>
              <a:rPr lang="en-IN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a LSTM model for the available time series data</a:t>
            </a:r>
          </a:p>
          <a:p>
            <a:pPr marL="0" indent="0">
              <a:buNone/>
            </a:pPr>
            <a:endParaRPr lang="en-IN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Model Architecture:</a:t>
            </a:r>
          </a:p>
          <a:p>
            <a:pPr marL="0" indent="0">
              <a:buNone/>
            </a:pPr>
            <a:endParaRPr lang="en-IN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9B3EC4-CB32-7F61-7ECC-0B21549AF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926" y="504239"/>
            <a:ext cx="4866156" cy="21056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0A42C1-1027-52B9-F778-C191B229E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654" y="5011484"/>
            <a:ext cx="5443428" cy="11594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2A5CDF-A1E4-E6E5-887C-48BF6BB17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69" y="3552763"/>
            <a:ext cx="3745831" cy="26182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5F1B47-1DA0-5E6F-3513-AE7B653A4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749" y="3429000"/>
            <a:ext cx="7035282" cy="141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73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4F472-6F43-ED8E-AEA8-D4FC2EC76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04" y="19893"/>
            <a:ext cx="10515600" cy="866515"/>
          </a:xfrm>
        </p:spPr>
        <p:txBody>
          <a:bodyPr>
            <a:normAutofit/>
          </a:bodyPr>
          <a:lstStyle/>
          <a:p>
            <a:r>
              <a:rPr lang="en-IN" sz="2400" u="sng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2352D-73BA-F60A-B6FA-00B6EF185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604" y="989044"/>
            <a:ext cx="11541968" cy="5253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Predicted Consumption: The expected average consumption is 2.56 kWh 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Consumption Stability: The predicted consumption is highly stable, with very little variation 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Maximum: The highest predicted consumption is only slightly higher at 2.57 kWh 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Minimum: The lowest predicted consumption is 2.56 kWh, matching the average </a:t>
            </a:r>
          </a:p>
          <a:p>
            <a:pPr marL="457200" lvl="1" indent="0">
              <a:buNone/>
            </a:pPr>
            <a:endParaRPr lang="en-US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F783E2-9EED-A4ED-9CDD-3299B7D54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04" y="2789854"/>
            <a:ext cx="10080172" cy="336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67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20768"/>
            <a:ext cx="12192000" cy="695914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2400" dirty="0">
                <a:solidFill>
                  <a:srgbClr val="339933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Business Impact</a:t>
            </a:r>
            <a:endParaRPr lang="en-IE" sz="2400" dirty="0">
              <a:solidFill>
                <a:srgbClr val="339933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5522745"/>
                  </p:ext>
                </p:extLst>
              </p:nvPr>
            </p:nvGraphicFramePr>
            <p:xfrm>
              <a:off x="469085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9085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39BAB-A082-F150-4AFE-D659B1C96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43" y="197175"/>
            <a:ext cx="11719249" cy="931830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0452F-967C-77C8-33F9-ECE5139AE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" y="1129005"/>
            <a:ext cx="11800114" cy="5439746"/>
          </a:xfrm>
        </p:spPr>
        <p:txBody>
          <a:bodyPr/>
          <a:lstStyle/>
          <a:p>
            <a:r>
              <a:rPr lang="en-IN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model suggest that the consumption pattern would remain static for the upcoming 3 days in the month of January for the next year.</a:t>
            </a:r>
          </a:p>
          <a:p>
            <a:pPr marL="0" indent="0">
              <a:buNone/>
            </a:pPr>
            <a:endParaRPr lang="en-IN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Few more general recommendations:</a:t>
            </a:r>
          </a:p>
          <a:p>
            <a:pPr marL="342900" indent="-342900">
              <a:buAutoNum type="arabicParenR"/>
            </a:pPr>
            <a:r>
              <a:rPr lang="en-US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Buy extra power in advance when we predict high demand</a:t>
            </a:r>
          </a:p>
          <a:p>
            <a:pPr marL="342900" indent="-342900">
              <a:buAutoNum type="arabicParenR"/>
            </a:pPr>
            <a:r>
              <a:rPr lang="en-US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simple alerts to customers about high-demand days</a:t>
            </a:r>
            <a:endParaRPr lang="en-IN" sz="1600" dirty="0">
              <a:solidFill>
                <a:srgbClr val="CC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arenR"/>
            </a:pPr>
            <a:r>
              <a:rPr lang="en-US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better pricing plans that reward off-peak usage</a:t>
            </a:r>
            <a:r>
              <a:rPr lang="en-IN" sz="1600" dirty="0">
                <a:solidFill>
                  <a:srgbClr val="CC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968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590F-1158-3F2D-02F2-78859F5D2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718CA-B0AD-ED82-5DC3-C6FF111A1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620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96DFF-6B7B-FFBF-67B9-C8FF8C8C8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E6C4E-9507-82AB-3FE1-DAA612F5C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5053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6a27608a-ab3b-4e11-9983-f187225f8b91}">
  <we:reference id="WA200003233" version="2.0.0.3" store="en-US" storeType="OMEX"/>
  <we:alternateReferences/>
  <we:properties>
    <we:property name="Microsoft.Office.CampaignId" value="&quot;none&quot;"/>
    <we:property name="reportUrl" value="&quot;/groups/me/reports/2477afb8-f3d3-48c3-abd1-14b04a89a020/550490497b31639d4248?bookmarkGuid=92f375f6-d463-471c-89ad-351e3484dcfb&amp;bookmarkUsage=1&amp;ctid=30ec14df-cc5f-4651-a117-7622565c4a6c&amp;fromEntryPoint=export&quot;"/>
    <we:property name="reportState" value="&quot;CONNECTED&quot;"/>
    <we:property name="artifactViewState" value="&quot;live&quot;"/>
    <we:property name="reportEmbeddedTime" value="&quot;2025-11-10T05:48:09.383Z&quot;"/>
    <we:property name="creatorSessionId" value="&quot;8e91e9bd-a098-4fff-9eac-731956e71e0a&quot;"/>
    <we:property name="creatorUserId" value="&quot;10032005017FDF33&quot;"/>
    <we:property name="creatorTenantId" value="&quot;30ec14df-cc5f-4651-a117-7622565c4a6c&quot;"/>
    <we:property name="pageDisplayName" value="&quot;Page 1&quot;"/>
    <we:property name="pageName" value="&quot;550490497b31639d4248&quot;"/>
    <we:property name="reportName" value="&quot;Meter_Data&quot;"/>
    <we:property name="isVisualContainerHeaderHidden" value="false"/>
    <we:property name="isFiltersActionButtonVisible" value="true"/>
    <we:property name="initialStateBookmark" value="&quot;H4sIAAAAAAAAA+1abU/jOBD+K6t84Uv3FDdpXvgGhdVJwC4HK06n06py7EnqxXmR47D0EP/9xnEKbSkU2F1UKFI/4PHEM88zM/Y44crhoq4knXymOTjbzm5ZnudUnX8gTs8pOtmXLwdHOycHo887R/soListyqJ2tq8cTVUG+kzUDZVmBRT++63nUCmPaWZGKZU19JwKVF0WVIr/wCrjlFYNXPccuKxkqahZ8lRTDWbZC1THMdomf3hokTItLuAUmLbSwcD1Y/yFiUcCL+Z+349QrbYKrWdLVczSrflhWWgqCjRjZBEwHiUkGHg8pYOIMQ8GRp4KqTuVZLJ/WSlEh5gnlWFlh1/QggF3WggKauvxlbOTZQoyqrvh/tzksJRNvkR+WjaKwQmk7VShhZ6gjRpDoUc5oBcjTjV1rpGwY1Uine08p0JORgwhN3kblJEsKW+1PjVFx5ZrhuPyx1AB0suN4BtKalFksovGLTFfLThGlQFWJt+RUkMAPlAqDmp30nKwJ9Q0GP3eApQ1xI+AUcQjxoOQhSEZ9AOPu2lCvFcRZsBEzSajuqkqKWCD4rsSuA0s67suCQFjmiTEJYwGfvj8wP4pQFHFxpNDuAB5F8rN/N2pqetnVAm7o7Wwf4qObmO+WdJZqAANWqCGUZ3xzNnDiQ+3AjPd4cEpO57Pmd5apfxzd7b1QvHkwn2E+28+Pf8Bqh7MzyGKslIJhhvbxrHzV4Nm4J2gewk6wtZuvISelWeixH5wOEYfFw9G232iW99n+suOY3tcvnlSpzW5AVBnCmwD0N5UywZg7fqejUGKvTHKEn8QkDThbkxi8DyfshBexa1nQ1vAlefUuCm4An4M6E2hTzVl58Ct00uPrzW81z3t3s7ckARRRFIa8YBEYczsq5z36917//zeP79U//x+NV395uShxPm1O2heF2viiSyZZXfdT+IN7SfW0v1ESPlLmiFNEwn7l/M9j1mnH3tRFBKPhgPCfBazNEpXNg0vVzVzu88TMddSMDzBZiE7OdLa7paZYdg8hKgqa09AfYt8/q+z6Yc27AY/qTJvH+v2zRot3I+n51hv0N+e8/cYFLTPDsuCC31DWV7h5lsvjg5EwVuTh5DqR3M7PRHQsYfIPBHZuF30UGjLBMKksoEZxa2+2ycfXf+jG3x13e32t4VP247z2kBqQd4lsdbIw173mRLa9HmepZ6Tl3zVKlu7oH8AFLe+3dvOk8V2/rflq2Fn6Sux1uu6S4PfZNzeaSM/9MM07HtB0vfMZ704JGtU3MsP55+r63vy8VFJRGvBZlPoZaNn2bCBY14ShKEbw8AEjTFOwniNAvfme5mVOViJ5e/AX/lLhDb5lpVV2ei6ogyOaQFLygsDTAtuuHuwxMy/sthNHckU2JE8Ur/z7X+ZJ9n+hSMAAA==&quot;"/>
    <we:property name="bookmark" value="&quot;H4sIAAAAAAAAA+1ZbU/jOBD+K6t84Us5xXkv36CwOum4E7esOJ1Oq8qxJ6kX50WOy9JD/e83jlMopdDC7nKFVqoEHo/teZ558SS5cbhoakknf9ACnAPnqKouC6ouPxCn55RWxmiSsoAmBMIw9pjLApLibFVrUZWNc3DjaKpy0BeiGVNpNkLhP196DpXyjOZmlFHZQM+pQTVVSaX4F6wyTmk1hmnPgetaVoqaLc811WC2vUJ1HKMJ5BcfT6RMiys4B6atNAzdoI+/OPVJ5Pd54AUJqjVWobVsqYrZuj1+UJWaihKPMbIEGE9SEoU+z2iYMOZDaOSZkLpTSScn17VCdIh5UhtyDvkVLRlwp4WgoLEW3ziHea4gp7obntybHFRyXCyRn1djxeATZO1UqYWe4BkNekQPC0Arhpxq6kyRsDNVIZ3tPKdCToYMIY+L1ilDWVHean0clx1brhmOqm8DBUgvN4IvKGlEmcvOG3fEfLbgGFUGWJV+RUoNAbigUhzU0aTl4FiomTO83gKUDcSPgFHEE8ajmMUxCb3I526WEv9NuBkwUPPJsBnXtRSwRf5dCdw6lnmuS2JAn6YpcQmjURC/3LG/ClBUsdHkFK5APoRyO/9wamb6BVXCVrQW9nfR0dXn2y2dhQzQoAVqGNU5y5xjnPhwJzDTHR6csuP7MdPbqJB/aWXbLBTPTtw1zH/34fk3UPVkfA5QlFdKMCxsW8fOn2M8BnYEPUrQ79jajZbQs/JOlNgPDkZo4+LFaLtPNOvrXH/ZcWyvy3dP6iwntwDqXIJtAdrbbNkCrF3fszVIsTdGWRqEEclS7vZJH3w/oCyGN/HUs6Ut4Mp7ajQuuQJ+BmhNqc81ZZfArdFLr68NfK573nM7c2MSJQnJaMIjksR9Zl/l7B7vdv3zrn9+rf5592i6+s3JU4HzYyto0ZQbYomsmGV302/iLe0nNtL8VEj5Q5ohTVMJJ9dr9jxksed59xVrVs1tJ+X1/SSJiU/jkLCA9VmWZCs7qdcrJfcAPjMQGikYXuvzceAUGGutQ3ITdmYRoqrteQKaO+T3/7uYfX3EFvmjqop2WeeaBk94HE/PsdagvT3nrxEoaNcOqpKLWXYdltz8OYVMWwaLGt3dzPicjX4TRs/rzSmuQfUsBtHOp7j9JPJRu+mp0JYYRE3lGOYU9zzXI/vE3Sf+Z9c9aH97JpLm1z9tvf//Wu/vu/4+iRast7kwNR5qffYwJhqNbj3uPkVDmw0vYwqzpeTP3MgaHS5uVFR81S57R6C/AZQdzDbh162DPy2PDc1L35+2Vjddevykw+0LkCSIgziLPT9KPd98A+7HZIOK3vJO7vvq3SOBvVYQ0Uaw+RB6Xe9ZNqzjmJ9Gcez2ITROY4yTuL9Bjnv3je/KGKzF8g8mb/yNUxt8c4Cm0/8AF114DS0lAAA=&quot;"/>
    <we:property name="datasetId" value="&quot;5e932d40-99b8-4dec-a39c-657525277827&quot;"/>
    <we:property name="embedUrl" value="&quot;/reportEmbed?reportId=2477afb8-f3d3-48c3-abd1-14b04a89a020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1669</TotalTime>
  <Words>255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                        Load Forecasting for Energy Utilities</vt:lpstr>
      <vt:lpstr>Approach and Model Overview</vt:lpstr>
      <vt:lpstr>Result</vt:lpstr>
      <vt:lpstr>Business Impact</vt:lpstr>
      <vt:lpstr>Recommendations</vt:lpstr>
      <vt:lpstr>Relaunch the add-in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Gaurav Sonawane</cp:lastModifiedBy>
  <cp:revision>10</cp:revision>
  <dcterms:created xsi:type="dcterms:W3CDTF">2018-06-07T21:39:02Z</dcterms:created>
  <dcterms:modified xsi:type="dcterms:W3CDTF">2025-11-10T08:35:59Z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